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81" r:id="rId7"/>
    <p:sldId id="282" r:id="rId8"/>
    <p:sldId id="289" r:id="rId9"/>
    <p:sldId id="283" r:id="rId10"/>
    <p:sldId id="280" r:id="rId11"/>
    <p:sldId id="287" r:id="rId12"/>
    <p:sldId id="291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101" d="100"/>
          <a:sy n="101" d="100"/>
        </p:scale>
        <p:origin x="264" y="10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5A963-8841-62B4-4C78-7E7D53D3A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65C99-D63D-0315-2886-47EC40D9E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87DB-397F-004A-1C00-E4FA236E8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7394B-BECB-99F4-39C2-E685B2E6B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301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676C4-F146-8E96-EAEE-5B7BB9F3E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94405-26AE-D502-601B-BDD4DE98C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2C848-01BE-0173-845A-8753B7ECA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2BEAE-09CC-BB80-4281-90B580101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409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C6D9E-6B01-4BD9-B6D2-2E31FD45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50ECD-9262-4698-1976-6FBEA4267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26346-2997-ED3D-DB57-F592F1E0F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15CFA-04D0-721C-81C6-657B51C4E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56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6" y="4339440"/>
            <a:ext cx="6306864" cy="1013610"/>
          </a:xfrm>
        </p:spPr>
        <p:txBody>
          <a:bodyPr anchor="ctr"/>
          <a:lstStyle/>
          <a:p>
            <a:r>
              <a:rPr lang="en-US" sz="2000" dirty="0"/>
              <a:t>Breaking the web (Before your users do)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AF958-9A0F-E5DE-0BD9-42E99E16484A}"/>
              </a:ext>
            </a:extLst>
          </p:cNvPr>
          <p:cNvSpPr txBox="1"/>
          <p:nvPr/>
        </p:nvSpPr>
        <p:spPr>
          <a:xfrm>
            <a:off x="6305551" y="5168384"/>
            <a:ext cx="5829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Automated browser testing with Python &amp; Splinter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Why write browser tests?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897812" cy="3407051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Verify user workflows work as expected</a:t>
            </a:r>
          </a:p>
          <a:p>
            <a:pPr lvl="1"/>
            <a:r>
              <a:rPr lang="en-US" dirty="0"/>
              <a:t>Catch UI bugs</a:t>
            </a:r>
          </a:p>
          <a:p>
            <a:pPr lvl="1"/>
            <a:r>
              <a:rPr lang="en-US" dirty="0"/>
              <a:t>Ensure your application handles errors and edge-cases gracefully</a:t>
            </a:r>
          </a:p>
          <a:p>
            <a:pPr lvl="1"/>
            <a:r>
              <a:rPr lang="en-US" dirty="0"/>
              <a:t>Faster, easier, and more reliable than manual testing alone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568961"/>
            <a:ext cx="9791700" cy="1780860"/>
          </a:xfrm>
        </p:spPr>
        <p:txBody>
          <a:bodyPr/>
          <a:lstStyle/>
          <a:p>
            <a:r>
              <a:rPr lang="en-US" dirty="0"/>
              <a:t>What is splinter?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5E6EA8-271B-6F32-5BA4-06AD245EAD94}"/>
              </a:ext>
            </a:extLst>
          </p:cNvPr>
          <p:cNvSpPr txBox="1"/>
          <p:nvPr/>
        </p:nvSpPr>
        <p:spPr>
          <a:xfrm>
            <a:off x="2324100" y="2690336"/>
            <a:ext cx="73342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Splinter is a Python package that gives programmers a Pythonic wrapper for the Selenium browser automation toolkit.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package provides helper functionality for interacting with, and verifying the contents of, web pages.</a:t>
            </a: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Requirements FOR TESTING with splinter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49">
            <a:extLst>
              <a:ext uri="{FF2B5EF4-FFF2-40B4-BE49-F238E27FC236}">
                <a16:creationId xmlns:a16="http://schemas.microsoft.com/office/drawing/2014/main" id="{FA0D1F2A-389C-56B4-E1C8-A6CDA45EF0B2}"/>
              </a:ext>
            </a:extLst>
          </p:cNvPr>
          <p:cNvSpPr txBox="1">
            <a:spLocks/>
          </p:cNvSpPr>
          <p:nvPr/>
        </p:nvSpPr>
        <p:spPr>
          <a:xfrm>
            <a:off x="1369695" y="2527695"/>
            <a:ext cx="5543827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Python 3.8+</a:t>
            </a:r>
          </a:p>
          <a:p>
            <a:pPr lvl="1"/>
            <a:r>
              <a:rPr lang="en-US" dirty="0"/>
              <a:t>WebDriver application for your browser</a:t>
            </a:r>
          </a:p>
          <a:p>
            <a:pPr lvl="1"/>
            <a:r>
              <a:rPr lang="en-US" dirty="0"/>
              <a:t>Splinter and Selenium Python packages</a:t>
            </a:r>
          </a:p>
          <a:p>
            <a:pPr lvl="1"/>
            <a:r>
              <a:rPr lang="en-US" dirty="0"/>
              <a:t>Basic knowledge of HTML/CSS</a:t>
            </a:r>
          </a:p>
          <a:p>
            <a:pPr lvl="1"/>
            <a:r>
              <a:rPr lang="en-US" dirty="0"/>
              <a:t>Understanding of automated testing</a:t>
            </a:r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4E191-9F2F-706F-2489-7A725A58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B469FFA-D954-7BF6-A934-662449D6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19200"/>
            <a:ext cx="5655197" cy="725334"/>
          </a:xfrm>
        </p:spPr>
        <p:txBody>
          <a:bodyPr anchor="b"/>
          <a:lstStyle/>
          <a:p>
            <a:r>
              <a:rPr lang="en-US" dirty="0"/>
              <a:t>How it works</a:t>
            </a:r>
          </a:p>
        </p:txBody>
      </p:sp>
      <p:pic>
        <p:nvPicPr>
          <p:cNvPr id="21" name="Picture 2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22E578B-2247-45C3-E43F-27F41A7E5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56" y="1797607"/>
            <a:ext cx="7119919" cy="527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1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5350"/>
            <a:ext cx="5067299" cy="1600200"/>
          </a:xfrm>
        </p:spPr>
        <p:txBody>
          <a:bodyPr>
            <a:normAutofit/>
          </a:bodyPr>
          <a:lstStyle/>
          <a:p>
            <a:r>
              <a:rPr lang="en-US" dirty="0"/>
              <a:t>Installation and Setup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5A8E6-6C47-2872-B8C2-08A405AD783D}"/>
              </a:ext>
            </a:extLst>
          </p:cNvPr>
          <p:cNvSpPr txBox="1"/>
          <p:nvPr/>
        </p:nvSpPr>
        <p:spPr>
          <a:xfrm>
            <a:off x="838200" y="1876425"/>
            <a:ext cx="7143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Create Python virtual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Enter the virtual environment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Install dependencies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335D91-42D3-E2A0-CCF7-4F6C6D3FC502}"/>
              </a:ext>
            </a:extLst>
          </p:cNvPr>
          <p:cNvSpPr txBox="1"/>
          <p:nvPr/>
        </p:nvSpPr>
        <p:spPr>
          <a:xfrm>
            <a:off x="838200" y="2973943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Linux &amp; macOS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81826-5228-4E71-CA44-94A7E9A2214D}"/>
              </a:ext>
            </a:extLst>
          </p:cNvPr>
          <p:cNvSpPr txBox="1"/>
          <p:nvPr/>
        </p:nvSpPr>
        <p:spPr>
          <a:xfrm>
            <a:off x="6779358" y="2973943"/>
            <a:ext cx="23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Windows</a:t>
            </a:r>
          </a:p>
        </p:txBody>
      </p:sp>
      <p:pic>
        <p:nvPicPr>
          <p:cNvPr id="20" name="Picture 1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AD41F88-E9E6-C544-289C-8AB727C03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1" y="3133725"/>
            <a:ext cx="5440428" cy="3105150"/>
          </a:xfrm>
          <a:prstGeom prst="rect">
            <a:avLst/>
          </a:prstGeom>
        </p:spPr>
      </p:pic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8050464-2129-1D31-8E4B-FD28981E7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04699"/>
            <a:ext cx="5491284" cy="313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cap="none" dirty="0"/>
              <a:t>SPLINTER’S APIs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8E9A-195F-1DD5-3609-F98BB959F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E64F-1924-2183-957C-F7632E7F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-831214"/>
            <a:ext cx="8420100" cy="1780860"/>
          </a:xfrm>
        </p:spPr>
        <p:txBody>
          <a:bodyPr/>
          <a:lstStyle/>
          <a:p>
            <a:r>
              <a:rPr lang="en-US" dirty="0"/>
              <a:t>The Browser API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0C44B84-6D6F-C1C0-40FE-4D63ADE79638}"/>
              </a:ext>
            </a:extLst>
          </p:cNvPr>
          <p:cNvSpPr txBox="1">
            <a:spLocks/>
          </p:cNvSpPr>
          <p:nvPr/>
        </p:nvSpPr>
        <p:spPr>
          <a:xfrm>
            <a:off x="2781300" y="-497839"/>
            <a:ext cx="8420100" cy="1780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cap="none" dirty="0"/>
              <a:t>A small collection of the Browser object’s functionality</a:t>
            </a:r>
          </a:p>
        </p:txBody>
      </p:sp>
      <p:pic>
        <p:nvPicPr>
          <p:cNvPr id="18" name="Picture 1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2538744-B327-4D10-D459-2C51CB58D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846" y="843109"/>
            <a:ext cx="8088308" cy="61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3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2F6B6-A69E-18D1-73A1-DD85D37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0267-4C8F-9E97-517E-6252F4E49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18" y="-172879"/>
            <a:ext cx="9953308" cy="1780860"/>
          </a:xfrm>
        </p:spPr>
        <p:txBody>
          <a:bodyPr/>
          <a:lstStyle/>
          <a:p>
            <a:r>
              <a:rPr lang="en-US" dirty="0"/>
              <a:t>The Element API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1CAD04-BA9D-42CD-EB34-26FCF3AC8364}"/>
              </a:ext>
            </a:extLst>
          </p:cNvPr>
          <p:cNvSpPr txBox="1">
            <a:spLocks/>
          </p:cNvSpPr>
          <p:nvPr/>
        </p:nvSpPr>
        <p:spPr>
          <a:xfrm>
            <a:off x="913818" y="170021"/>
            <a:ext cx="9953308" cy="1780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cap="none" dirty="0"/>
              <a:t>Some functionality for interacting with elements on the page</a:t>
            </a: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AA65806-7481-37FA-0C1D-9D561EE0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2171732"/>
            <a:ext cx="10258425" cy="460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85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6214" y="2618978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Demo Source Code can be found here: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C829550-2B9A-7D99-6372-43BCF5835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4" y="3228578"/>
            <a:ext cx="2533650" cy="25336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0A995DB-53B9-9CB7-C9FB-64C8A116B8F5}"/>
              </a:ext>
            </a:extLst>
          </p:cNvPr>
          <p:cNvSpPr txBox="1">
            <a:spLocks/>
          </p:cNvSpPr>
          <p:nvPr/>
        </p:nvSpPr>
        <p:spPr>
          <a:xfrm>
            <a:off x="3776662" y="948986"/>
            <a:ext cx="5019675" cy="15247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Time for the Live Demo</a:t>
            </a:r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{074C41D2-279E-41F9-8563-C4E5D34B0CAC}TF7521aafa-c748-4c40-a498-ba511be234dc5b1b6097_win32-5039330bb2f3</Template>
  <TotalTime>247</TotalTime>
  <Words>188</Words>
  <Application>Microsoft Office PowerPoint</Application>
  <PresentationFormat>Widescreen</PresentationFormat>
  <Paragraphs>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Tenorite</vt:lpstr>
      <vt:lpstr>Custom</vt:lpstr>
      <vt:lpstr>Breaking the web (Before your users do)</vt:lpstr>
      <vt:lpstr>Why write browser tests?</vt:lpstr>
      <vt:lpstr>What is splinter?</vt:lpstr>
      <vt:lpstr>Requirements FOR TESTING with splinter</vt:lpstr>
      <vt:lpstr>How it works</vt:lpstr>
      <vt:lpstr>Installation and Setup</vt:lpstr>
      <vt:lpstr>SPLINTER’S APIs</vt:lpstr>
      <vt:lpstr>The Browser API</vt:lpstr>
      <vt:lpstr>The Element API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Byrd</dc:creator>
  <cp:lastModifiedBy>Chris Byrd</cp:lastModifiedBy>
  <cp:revision>9</cp:revision>
  <dcterms:created xsi:type="dcterms:W3CDTF">2026-01-09T14:43:51Z</dcterms:created>
  <dcterms:modified xsi:type="dcterms:W3CDTF">2026-01-09T20:44:00Z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